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6070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3D6BF5"/>
                </a:solidFill>
                <a:latin typeface="Calibri"/>
              </a:rPr>
              <a:t>THE MEDCHRONS PILOT — WORKING PLAN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The execution detail behind the pitch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600"/>
              </a:spcAft>
            </a:pPr>
            <a:r>
              <a:rPr sz="1800" b="0">
                <a:solidFill>
                  <a:srgbClr val="C9D8DC"/>
                </a:solidFill>
                <a:latin typeface="Calibri"/>
              </a:rPr>
              <a:t>Companion to the onboarding tracker (.xlsx) · Lakefront Injury Group (sample).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Prepared by Alex Donnelly  ·  Customer Onboarding Specialist (sample)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C9D8DC"/>
                </a:solidFill>
                <a:latin typeface="Calibri"/>
              </a:rPr>
              <a:t>Independent work sample from EvenUp's public materials. Not affiliated with or endorsed by EvenUp. Fictional firm; figures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THE 90-DAY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B2B36"/>
                </a:solidFill>
                <a:latin typeface="Cambria"/>
              </a:rPr>
              <a:t>Five phases, each with an exit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</a:pPr>
            <a:r>
              <a:rPr sz="1450" b="0">
                <a:solidFill>
                  <a:srgbClr val="5E6B73"/>
                </a:solidFill>
                <a:latin typeface="Calibri"/>
              </a:rPr>
              <a:t>You don't move on until the exit condition is met. Owners and status live in the tracker.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840480"/>
            <a:ext cx="15014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Discover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1–15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2772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20516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940" y="3840480"/>
            <a:ext cx="15014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Configure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16–30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2585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80329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3753" y="3840480"/>
            <a:ext cx="15014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Pilot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31–60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02398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40142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3566" y="3840480"/>
            <a:ext cx="15014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Measure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61–75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2211" y="2926080"/>
            <a:ext cx="1903780" cy="219456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9955" y="3200400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3379" y="3840480"/>
            <a:ext cx="150144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2B36"/>
                </a:solidFill>
                <a:latin typeface="Calibri"/>
              </a:rPr>
              <a:t>Expand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B50C8"/>
                </a:solidFill>
                <a:latin typeface="Calibri"/>
              </a:rPr>
              <a:t>Days 76–90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PILOT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A small, deliberately chosen cohort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The cohort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2 attorneys, 4 paralegals, 1 records liaison, 1 champion — ~15–25 matters.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87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06189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6189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Include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Standard MVC &amp; premises matters with records collected.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510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Exclude at first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Catastrophic or highly fragmented files — unless complexity is the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9690" y="2743200"/>
            <a:ext cx="2416302" cy="2834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24010" y="3035808"/>
            <a:ext cx="457200" cy="457200"/>
          </a:xfrm>
          <a:prstGeom prst="ellipse">
            <a:avLst/>
          </a:prstGeom>
          <a:solidFill>
            <a:srgbClr val="3D6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4010" y="3657600"/>
            <a:ext cx="186766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2B36"/>
                </a:solidFill>
                <a:latin typeface="Calibri"/>
              </a:rPr>
              <a:t>Cadence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E6B73"/>
                </a:solidFill>
                <a:latin typeface="Calibri"/>
              </a:rPr>
              <a:t>Weekly huddle, shared issue log, weekly completed-matter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THE DISCIPLINE THAT MAKES IT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The closed-loop review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</a:pPr>
            <a:r>
              <a:rPr sz="1450" b="0">
                <a:solidFill>
                  <a:srgbClr val="5E6B73"/>
                </a:solidFill>
                <a:latin typeface="Calibri"/>
              </a:rPr>
              <a:t>Seven questions on every completed MedChron — what turns training into operational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4241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2B50C8"/>
                </a:solidFill>
                <a:latin typeface="Calibri"/>
              </a:rPr>
              <a:t>1.  </a:t>
            </a:r>
            <a:r>
              <a:rPr sz="1450">
                <a:solidFill>
                  <a:srgbClr val="1B2B36"/>
                </a:solidFill>
                <a:latin typeface="Calibri"/>
              </a:rPr>
              <a:t>Was it submitted at the right stage of the case?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2B50C8"/>
                </a:solidFill>
                <a:latin typeface="Calibri"/>
              </a:rPr>
              <a:t>2.  </a:t>
            </a:r>
            <a:r>
              <a:rPr sz="1450">
                <a:solidFill>
                  <a:srgbClr val="1B2B36"/>
                </a:solidFill>
                <a:latin typeface="Calibri"/>
              </a:rPr>
              <a:t>Was the source packet ready — records, bills, providers, dates?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2B50C8"/>
                </a:solidFill>
                <a:latin typeface="Calibri"/>
              </a:rPr>
              <a:t>3.  </a:t>
            </a:r>
            <a:r>
              <a:rPr sz="1450">
                <a:solidFill>
                  <a:srgbClr val="1B2B36"/>
                </a:solidFill>
                <a:latin typeface="Calibri"/>
              </a:rPr>
              <a:t>Did the chronology surface something genuinely useful?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2B50C8"/>
                </a:solidFill>
                <a:latin typeface="Calibri"/>
              </a:rPr>
              <a:t>4.  </a:t>
            </a:r>
            <a:r>
              <a:rPr sz="1450">
                <a:solidFill>
                  <a:srgbClr val="1B2B36"/>
                </a:solidFill>
                <a:latin typeface="Calibri"/>
              </a:rPr>
              <a:t>Did the paralegal need to correct, supplement, or clarify?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2B50C8"/>
                </a:solidFill>
                <a:latin typeface="Calibri"/>
              </a:rPr>
              <a:t>5.  </a:t>
            </a:r>
            <a:r>
              <a:rPr sz="1450">
                <a:solidFill>
                  <a:srgbClr val="1B2B36"/>
                </a:solidFill>
                <a:latin typeface="Calibri"/>
              </a:rPr>
              <a:t>Did the attorney use it in evaluation, demand, or strategy?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2B50C8"/>
                </a:solidFill>
                <a:latin typeface="Calibri"/>
              </a:rPr>
              <a:t>6.  </a:t>
            </a:r>
            <a:r>
              <a:rPr sz="1450">
                <a:solidFill>
                  <a:srgbClr val="1B2B36"/>
                </a:solidFill>
                <a:latin typeface="Calibri"/>
              </a:rPr>
              <a:t>Were missing records or treatment gaps identified?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2B50C8"/>
                </a:solidFill>
                <a:latin typeface="Calibri"/>
              </a:rPr>
              <a:t>7.  </a:t>
            </a:r>
            <a:r>
              <a:rPr sz="1450">
                <a:solidFill>
                  <a:srgbClr val="1B2B36"/>
                </a:solidFill>
                <a:latin typeface="Calibri"/>
              </a:rPr>
              <a:t>Would the team use it again on the next eligible matter?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ON-SITE · GO-LIVE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The intensive training week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</a:pPr>
            <a:r>
              <a:rPr sz="1450" b="0">
                <a:solidFill>
                  <a:srgbClr val="5E6B73"/>
                </a:solidFill>
                <a:latin typeface="Calibri"/>
              </a:rPr>
              <a:t>Champions first; every role trains on its own real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130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B50C8"/>
                </a:solidFill>
                <a:latin typeface="Calibri"/>
              </a:rPr>
              <a:t>WHO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1305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B50C8"/>
                </a:solidFill>
                <a:latin typeface="Calibri"/>
              </a:rPr>
              <a:t>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10625328" cy="713232"/>
          </a:xfrm>
          <a:prstGeom prst="roundRect">
            <a:avLst>
              <a:gd name="adj" fmla="val 12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468879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468879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2B36"/>
                </a:solidFill>
                <a:latin typeface="Calibri"/>
              </a:rPr>
              <a:t>Leadership &amp; champions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468879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Confirm vision &amp; metrics; finalize configuration on live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291839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291839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2B36"/>
                </a:solidFill>
                <a:latin typeface="Calibri"/>
              </a:rPr>
              <a:t>Records &amp; intake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291839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Submission readiness — records, bills, provider list; naming &amp; handoffs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69080"/>
            <a:ext cx="10625328" cy="713232"/>
          </a:xfrm>
          <a:prstGeom prst="roundRect">
            <a:avLst>
              <a:gd name="adj" fmla="val 12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4114800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11480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2B36"/>
                </a:solidFill>
                <a:latin typeface="Calibri"/>
              </a:rPr>
              <a:t>Paralegals &amp; medical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14800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Build &amp; review the MedChron; review-against-source on every chronology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4937760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Thu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93776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2B36"/>
                </a:solidFill>
                <a:latin typeface="Calibri"/>
              </a:rPr>
              <a:t>Attorneys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937760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Using the chronology in evaluation, valuation &amp; demand prep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15000"/>
            <a:ext cx="10625328" cy="713232"/>
          </a:xfrm>
          <a:prstGeom prst="roundRect">
            <a:avLst>
              <a:gd name="adj" fmla="val 12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5760720"/>
            <a:ext cx="914400" cy="457200"/>
          </a:xfrm>
          <a:prstGeom prst="roundRect">
            <a:avLst>
              <a:gd name="adj" fmla="val 30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760720"/>
            <a:ext cx="2834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2B36"/>
                </a:solidFill>
                <a:latin typeface="Calibri"/>
              </a:rPr>
              <a:t>Whole 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760720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Go-live, office hours, success-plan check, closed-loop review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What good looks like — by role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</a:pPr>
            <a:r>
              <a:rPr sz="1450" b="0">
                <a:solidFill>
                  <a:srgbClr val="5E6B73"/>
                </a:solidFill>
                <a:latin typeface="Calibri"/>
              </a:rPr>
              <a:t>Full role detail lives in the tracker; here's the outcome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Attorney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103120"/>
            <a:ext cx="7040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Works from a verified chronology; trusts it because they know how to check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798063"/>
            <a:ext cx="10469880" cy="12700"/>
          </a:xfrm>
          <a:prstGeom prst="rect">
            <a:avLst/>
          </a:prstGeom>
          <a:solidFill>
            <a:srgbClr val="DD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79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Paralegal &amp; medical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926079"/>
            <a:ext cx="7040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Shifts from extraction to verification, gap-spotting, case-story development.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621023"/>
            <a:ext cx="10469880" cy="12700"/>
          </a:xfrm>
          <a:prstGeom prst="rect">
            <a:avLst/>
          </a:prstGeom>
          <a:solidFill>
            <a:srgbClr val="DD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49039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Case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749039"/>
            <a:ext cx="7040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Acts on surfaced gaps early — records requests, treatment follow-up.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443984"/>
            <a:ext cx="10469880" cy="12700"/>
          </a:xfrm>
          <a:prstGeom prst="rect">
            <a:avLst/>
          </a:prstGeom>
          <a:solidFill>
            <a:srgbClr val="DD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Records &amp;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572000"/>
            <a:ext cx="7040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Predictable file readiness; clean handoffs; less downstream rework.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266944"/>
            <a:ext cx="10469880" cy="12700"/>
          </a:xfrm>
          <a:prstGeom prst="rect">
            <a:avLst/>
          </a:prstGeom>
          <a:solidFill>
            <a:srgbClr val="DD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3200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2B50C8"/>
                </a:solidFill>
                <a:latin typeface="Calibri"/>
              </a:rPr>
              <a:t>Sponsor / ops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394960"/>
            <a:ext cx="70408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B2B36"/>
                </a:solidFill>
                <a:latin typeface="Calibri"/>
              </a:rPr>
              <a:t>Watches adoption health, clears blockers, reinforces the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What we'd measure together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</a:pPr>
            <a:r>
              <a:rPr sz="1350" b="0">
                <a:solidFill>
                  <a:srgbClr val="5E6B73"/>
                </a:solidFill>
                <a:latin typeface="Calibri"/>
              </a:rPr>
              <a:t>Operational value — not downstream settlement lift, which is hard to isolate in 90 days.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5351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B50C8"/>
                </a:solidFill>
                <a:latin typeface="Calibri"/>
              </a:rPr>
              <a:t>Adoption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% of eligible matters using the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69748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95351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B50C8"/>
                </a:solidFill>
                <a:latin typeface="Calibri"/>
              </a:rPr>
              <a:t>Speed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Days: record-ready → attorney-ready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69748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295351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B50C8"/>
                </a:solidFill>
                <a:latin typeface="Calibri"/>
              </a:rPr>
              <a:t>Efficiency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Paralegal time per chronology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1947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B50C8"/>
                </a:solidFill>
                <a:latin typeface="Calibri"/>
              </a:rPr>
              <a:t>Quality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Corrections / escalations per matter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6634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91947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B50C8"/>
                </a:solidFill>
                <a:latin typeface="Calibri"/>
              </a:rPr>
              <a:t>Utility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% attorneys who say it accelerated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663440"/>
            <a:ext cx="3456432" cy="1691640"/>
          </a:xfrm>
          <a:prstGeom prst="roundRect">
            <a:avLst>
              <a:gd name="adj" fmla="val 6000"/>
            </a:avLst>
          </a:prstGeom>
          <a:solidFill>
            <a:srgbClr val="F3F6F7"/>
          </a:solidFill>
          <a:ln w="9525">
            <a:solidFill>
              <a:srgbClr val="DD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4919472"/>
            <a:ext cx="2907791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B50C8"/>
                </a:solidFill>
                <a:latin typeface="Calibri"/>
              </a:rPr>
              <a:t>Confidence &amp; reuse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Confidence; repeat use as support tapers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B50C8"/>
                </a:solidFill>
                <a:latin typeface="Calibri"/>
              </a:rPr>
              <a:t>ACCOUNT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B2B36"/>
                </a:solidFill>
                <a:latin typeface="Cambria"/>
              </a:rPr>
              <a:t>Keeping it on track after go-live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B50C8"/>
                </a:solidFill>
                <a:latin typeface="Calibri"/>
              </a:rPr>
              <a:t>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402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B50C8"/>
                </a:solidFill>
                <a:latin typeface="Calibri"/>
              </a:rPr>
              <a:t>HEALTHY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2402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2B50C8"/>
                </a:solidFill>
                <a:latin typeface="Calibri"/>
              </a:rPr>
              <a:t>AT-RISK →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42032"/>
            <a:ext cx="10625328" cy="804672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6032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B36"/>
                </a:solidFill>
                <a:latin typeface="Calibri"/>
              </a:rPr>
              <a:t>Utilization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33832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Most eligible matters use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560320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Falling → office hours, re-train, recheck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7472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B36"/>
                </a:solidFill>
                <a:latin typeface="Calibri"/>
              </a:rPr>
              <a:t>Trust in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74720"/>
            <a:ext cx="33832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Teams rely on reviewed drafts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474720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Quiet distrust → coach review habit, show citations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70832"/>
            <a:ext cx="10625328" cy="804672"/>
          </a:xfrm>
          <a:prstGeom prst="roundRect">
            <a:avLst>
              <a:gd name="adj" fmla="val 10000"/>
            </a:avLst>
          </a:prstGeom>
          <a:solidFill>
            <a:srgbClr val="F3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B36"/>
                </a:solidFill>
                <a:latin typeface="Calibri"/>
              </a:rPr>
              <a:t>Champion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389120"/>
            <a:ext cx="33832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Active, responsive champion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389120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Quiet/departed → re-establish a sponsor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26517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B2B36"/>
                </a:solidFill>
                <a:latin typeface="Calibri"/>
              </a:rP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303520"/>
            <a:ext cx="33832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73"/>
                </a:solidFill>
                <a:latin typeface="Calibri"/>
              </a:rPr>
              <a:t>Few material corrections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5303520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B36"/>
                </a:solidFill>
                <a:latin typeface="Calibri"/>
              </a:rPr>
              <a:t>Rising → tighten readiness &amp; review checklists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The plan, tracked.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C9D8DC"/>
                </a:solidFill>
                <a:latin typeface="Calibri"/>
              </a:rPr>
              <a:t>This deck is the working detail; the companion .xlsx runs it — owners, status, and exit criteria for every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D6BF5"/>
                </a:solidFill>
                <a:latin typeface="Calibri"/>
              </a:rPr>
              <a:t>Alex Donnelly  ·  a.james.donnelly@gmail.com  ·  ajdonnelly.github.io/evenup-onboarding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C9D8DC"/>
                </a:solidFill>
                <a:latin typeface="Calibri"/>
              </a:rPr>
              <a:t>Independent work sample from EvenUp's public materials. Not affiliated with or endorsed by EvenUp. Fictional firm; figures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